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77" r:id="rId9"/>
    <p:sldId id="263" r:id="rId10"/>
    <p:sldId id="276"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8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EAB515-2EB5-4ED9-8830-ACB59B3DF0C4}"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BA6CBF-DBE8-48A3-AD1A-BA23BE28415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449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EAB515-2EB5-4ED9-8830-ACB59B3DF0C4}"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BA6CBF-DBE8-48A3-AD1A-BA23BE28415C}" type="slidenum">
              <a:rPr lang="en-US" smtClean="0"/>
              <a:t>‹#›</a:t>
            </a:fld>
            <a:endParaRPr lang="en-US"/>
          </a:p>
        </p:txBody>
      </p:sp>
    </p:spTree>
    <p:extLst>
      <p:ext uri="{BB962C8B-B14F-4D97-AF65-F5344CB8AC3E}">
        <p14:creationId xmlns:p14="http://schemas.microsoft.com/office/powerpoint/2010/main" val="1924972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EAB515-2EB5-4ED9-8830-ACB59B3DF0C4}"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BA6CBF-DBE8-48A3-AD1A-BA23BE28415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7886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EAB515-2EB5-4ED9-8830-ACB59B3DF0C4}"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BA6CBF-DBE8-48A3-AD1A-BA23BE28415C}" type="slidenum">
              <a:rPr lang="en-US" smtClean="0"/>
              <a:t>‹#›</a:t>
            </a:fld>
            <a:endParaRPr lang="en-US"/>
          </a:p>
        </p:txBody>
      </p:sp>
    </p:spTree>
    <p:extLst>
      <p:ext uri="{BB962C8B-B14F-4D97-AF65-F5344CB8AC3E}">
        <p14:creationId xmlns:p14="http://schemas.microsoft.com/office/powerpoint/2010/main" val="1785787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EAB515-2EB5-4ED9-8830-ACB59B3DF0C4}" type="datetimeFigureOut">
              <a:rPr lang="en-US" smtClean="0"/>
              <a:t>12/25/2025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BA6CBF-DBE8-48A3-AD1A-BA23BE28415C}" type="slidenum">
              <a:rPr lang="en-US" smtClean="0"/>
              <a:t>‹#›</a:t>
            </a:fld>
            <a:endParaRPr lang="en-US"/>
          </a:p>
        </p:txBody>
      </p:sp>
    </p:spTree>
    <p:extLst>
      <p:ext uri="{BB962C8B-B14F-4D97-AF65-F5344CB8AC3E}">
        <p14:creationId xmlns:p14="http://schemas.microsoft.com/office/powerpoint/2010/main" val="2400074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EAB515-2EB5-4ED9-8830-ACB59B3DF0C4}" type="datetimeFigureOut">
              <a:rPr lang="en-US" smtClean="0"/>
              <a:t>12/25/2025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BA6CBF-DBE8-48A3-AD1A-BA23BE28415C}" type="slidenum">
              <a:rPr lang="en-US" smtClean="0"/>
              <a:t>‹#›</a:t>
            </a:fld>
            <a:endParaRPr lang="en-US"/>
          </a:p>
        </p:txBody>
      </p:sp>
    </p:spTree>
    <p:extLst>
      <p:ext uri="{BB962C8B-B14F-4D97-AF65-F5344CB8AC3E}">
        <p14:creationId xmlns:p14="http://schemas.microsoft.com/office/powerpoint/2010/main" val="1459209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FEAB515-2EB5-4ED9-8830-ACB59B3DF0C4}" type="datetimeFigureOut">
              <a:rPr lang="en-US" smtClean="0"/>
              <a:t>12/25/2025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92BA6CBF-DBE8-48A3-AD1A-BA23BE28415C}" type="slidenum">
              <a:rPr lang="en-US" smtClean="0"/>
              <a:t>‹#›</a:t>
            </a:fld>
            <a:endParaRPr lang="en-US"/>
          </a:p>
        </p:txBody>
      </p:sp>
    </p:spTree>
    <p:extLst>
      <p:ext uri="{BB962C8B-B14F-4D97-AF65-F5344CB8AC3E}">
        <p14:creationId xmlns:p14="http://schemas.microsoft.com/office/powerpoint/2010/main" val="1615334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FEAB515-2EB5-4ED9-8830-ACB59B3DF0C4}" type="datetimeFigureOut">
              <a:rPr lang="en-US" smtClean="0"/>
              <a:t>12/25/2025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2BA6CBF-DBE8-48A3-AD1A-BA23BE28415C}" type="slidenum">
              <a:rPr lang="en-US" smtClean="0"/>
              <a:t>‹#›</a:t>
            </a:fld>
            <a:endParaRPr lang="en-US"/>
          </a:p>
        </p:txBody>
      </p:sp>
    </p:spTree>
    <p:extLst>
      <p:ext uri="{BB962C8B-B14F-4D97-AF65-F5344CB8AC3E}">
        <p14:creationId xmlns:p14="http://schemas.microsoft.com/office/powerpoint/2010/main" val="2906095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EAB515-2EB5-4ED9-8830-ACB59B3DF0C4}"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BA6CBF-DBE8-48A3-AD1A-BA23BE28415C}" type="slidenum">
              <a:rPr lang="en-US" smtClean="0"/>
              <a:t>‹#›</a:t>
            </a:fld>
            <a:endParaRPr lang="en-US"/>
          </a:p>
        </p:txBody>
      </p:sp>
    </p:spTree>
    <p:extLst>
      <p:ext uri="{BB962C8B-B14F-4D97-AF65-F5344CB8AC3E}">
        <p14:creationId xmlns:p14="http://schemas.microsoft.com/office/powerpoint/2010/main" val="3123704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EAB515-2EB5-4ED9-8830-ACB59B3DF0C4}"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BA6CBF-DBE8-48A3-AD1A-BA23BE28415C}" type="slidenum">
              <a:rPr lang="en-US" smtClean="0"/>
              <a:t>‹#›</a:t>
            </a:fld>
            <a:endParaRPr lang="en-US"/>
          </a:p>
        </p:txBody>
      </p:sp>
    </p:spTree>
    <p:extLst>
      <p:ext uri="{BB962C8B-B14F-4D97-AF65-F5344CB8AC3E}">
        <p14:creationId xmlns:p14="http://schemas.microsoft.com/office/powerpoint/2010/main" val="2481701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EAB515-2EB5-4ED9-8830-ACB59B3DF0C4}"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BA6CBF-DBE8-48A3-AD1A-BA23BE28415C}" type="slidenum">
              <a:rPr lang="en-US" smtClean="0"/>
              <a:t>‹#›</a:t>
            </a:fld>
            <a:endParaRPr lang="en-US"/>
          </a:p>
        </p:txBody>
      </p:sp>
    </p:spTree>
    <p:extLst>
      <p:ext uri="{BB962C8B-B14F-4D97-AF65-F5344CB8AC3E}">
        <p14:creationId xmlns:p14="http://schemas.microsoft.com/office/powerpoint/2010/main" val="2849951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FEAB515-2EB5-4ED9-8830-ACB59B3DF0C4}" type="datetimeFigureOut">
              <a:rPr lang="en-US" smtClean="0"/>
              <a:t>12/25/2025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2BA6CBF-DBE8-48A3-AD1A-BA23BE28415C}"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387612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2C385-28F3-4235-9EA8-296B6914565E}"/>
              </a:ext>
            </a:extLst>
          </p:cNvPr>
          <p:cNvSpPr>
            <a:spLocks noGrp="1"/>
          </p:cNvSpPr>
          <p:nvPr>
            <p:ph type="ctrTitle"/>
          </p:nvPr>
        </p:nvSpPr>
        <p:spPr/>
        <p:txBody>
          <a:bodyPr>
            <a:normAutofit/>
          </a:bodyPr>
          <a:lstStyle/>
          <a:p>
            <a:r>
              <a:rPr lang="en-GB" sz="4800" b="1" dirty="0">
                <a:solidFill>
                  <a:srgbClr val="000000"/>
                </a:solidFill>
                <a:effectLst/>
                <a:latin typeface="Times New Roman" panose="02020603050405020304" pitchFamily="18" charset="0"/>
                <a:cs typeface="Times New Roman" panose="02020603050405020304" pitchFamily="18" charset="0"/>
              </a:rPr>
              <a:t>From Education to Employment: Analysing the Factors That Drive Early Career Success</a:t>
            </a:r>
            <a:br>
              <a:rPr lang="en-GB" b="0" dirty="0">
                <a:solidFill>
                  <a:srgbClr val="000000"/>
                </a:solidFill>
                <a:effectLst/>
                <a:latin typeface="Courier New" panose="02070309020205020404" pitchFamily="49" charset="0"/>
              </a:rPr>
            </a:br>
            <a:endParaRPr lang="en-US" dirty="0"/>
          </a:p>
        </p:txBody>
      </p:sp>
      <p:sp>
        <p:nvSpPr>
          <p:cNvPr id="3" name="Subtitle 2">
            <a:extLst>
              <a:ext uri="{FF2B5EF4-FFF2-40B4-BE49-F238E27FC236}">
                <a16:creationId xmlns:a16="http://schemas.microsoft.com/office/drawing/2014/main" id="{19B47E05-07E3-4466-A931-00D4A0B0B16C}"/>
              </a:ext>
            </a:extLst>
          </p:cNvPr>
          <p:cNvSpPr>
            <a:spLocks noGrp="1"/>
          </p:cNvSpPr>
          <p:nvPr>
            <p:ph type="subTitle" idx="1"/>
          </p:nvPr>
        </p:nvSpPr>
        <p:spPr/>
        <p:txBody>
          <a:bodyPr/>
          <a:lstStyle/>
          <a:p>
            <a:r>
              <a:rPr lang="en-US" dirty="0"/>
              <a:t>By Raphael </a:t>
            </a:r>
            <a:r>
              <a:rPr lang="en-US" dirty="0" err="1"/>
              <a:t>floku</a:t>
            </a:r>
            <a:r>
              <a:rPr lang="en-US" dirty="0"/>
              <a:t> </a:t>
            </a:r>
            <a:r>
              <a:rPr lang="en-US" dirty="0" err="1"/>
              <a:t>ayertey</a:t>
            </a:r>
            <a:endParaRPr lang="en-US" dirty="0"/>
          </a:p>
        </p:txBody>
      </p:sp>
    </p:spTree>
    <p:extLst>
      <p:ext uri="{BB962C8B-B14F-4D97-AF65-F5344CB8AC3E}">
        <p14:creationId xmlns:p14="http://schemas.microsoft.com/office/powerpoint/2010/main" val="2223536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65A1A-30F8-4BAC-B9C5-BD3DF0E1E3B3}"/>
              </a:ext>
            </a:extLst>
          </p:cNvPr>
          <p:cNvSpPr>
            <a:spLocks noGrp="1"/>
          </p:cNvSpPr>
          <p:nvPr>
            <p:ph type="title"/>
          </p:nvPr>
        </p:nvSpPr>
        <p:spPr>
          <a:xfrm>
            <a:off x="1097280" y="286603"/>
            <a:ext cx="10058400" cy="1868018"/>
          </a:xfrm>
        </p:spPr>
        <p:txBody>
          <a:bodyPr>
            <a:normAutofit/>
          </a:bodyPr>
          <a:lstStyle/>
          <a:p>
            <a:r>
              <a:rPr lang="en-US" sz="6700" dirty="0">
                <a:latin typeface="Times New Roman" panose="02020603050405020304" pitchFamily="18" charset="0"/>
                <a:cs typeface="Times New Roman" panose="02020603050405020304" pitchFamily="18" charset="0"/>
              </a:rPr>
              <a:t>Introduction</a:t>
            </a:r>
            <a:br>
              <a:rPr lang="en-US" dirty="0"/>
            </a:br>
            <a:endParaRPr lang="en-US" dirty="0"/>
          </a:p>
        </p:txBody>
      </p:sp>
      <p:sp>
        <p:nvSpPr>
          <p:cNvPr id="3" name="Content Placeholder 2">
            <a:extLst>
              <a:ext uri="{FF2B5EF4-FFF2-40B4-BE49-F238E27FC236}">
                <a16:creationId xmlns:a16="http://schemas.microsoft.com/office/drawing/2014/main" id="{6D3386AE-442B-413A-8660-C1E34974B9B5}"/>
              </a:ext>
            </a:extLst>
          </p:cNvPr>
          <p:cNvSpPr>
            <a:spLocks noGrp="1"/>
          </p:cNvSpPr>
          <p:nvPr>
            <p:ph idx="1"/>
          </p:nvPr>
        </p:nvSpPr>
        <p:spPr/>
        <p:txBody>
          <a:bodyPr>
            <a:normAutofit fontScale="62500" lnSpcReduction="20000"/>
          </a:bodyPr>
          <a:lstStyle/>
          <a:p>
            <a:endParaRPr lang="en-GB" dirty="0"/>
          </a:p>
          <a:p>
            <a:r>
              <a:rPr lang="en-GB" sz="3800" dirty="0">
                <a:latin typeface="Times New Roman" panose="02020603050405020304" pitchFamily="18" charset="0"/>
                <a:cs typeface="Times New Roman" panose="02020603050405020304" pitchFamily="18" charset="0"/>
              </a:rPr>
              <a:t>In today’s competitive job market, academic qualifications alone are no longer sufficient to guarantee career success. Employers increasingly value practical experience, technical competence, soft skills, and the ability to network effectively. As a result, students are encouraged to combine strong academic performance with internships, projects, certifications, and personal skill development to improve their employability and long-term career outcomes.</a:t>
            </a:r>
          </a:p>
          <a:p>
            <a:r>
              <a:rPr lang="en-GB" sz="3800" dirty="0">
                <a:latin typeface="Times New Roman" panose="02020603050405020304" pitchFamily="18" charset="0"/>
                <a:cs typeface="Times New Roman" panose="02020603050405020304" pitchFamily="18" charset="0"/>
              </a:rPr>
              <a:t>This project seeks to examine how students’ academic achievements, practical experience, and soft skills contribute to their early career success. By analysing real world data that includes educational background, skill levels, and employment outcomes, the study provides insight into the key factors that influence job opportunities, salary levels, career satisfaction, and professional growth.</a:t>
            </a:r>
            <a:endParaRPr lang="en-US" sz="3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2879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2D6D9-AC30-4A47-868F-A805D5E7DC65}"/>
              </a:ext>
            </a:extLst>
          </p:cNvPr>
          <p:cNvSpPr>
            <a:spLocks noGrp="1"/>
          </p:cNvSpPr>
          <p:nvPr>
            <p:ph type="title"/>
          </p:nvPr>
        </p:nvSpPr>
        <p:spPr>
          <a:xfrm>
            <a:off x="1066800" y="812120"/>
            <a:ext cx="10058400" cy="1450757"/>
          </a:xfrm>
        </p:spPr>
        <p:txBody>
          <a:bodyPr/>
          <a:lstStyle/>
          <a:p>
            <a:r>
              <a:rPr lang="en-US" dirty="0">
                <a:latin typeface="Times New Roman" panose="02020603050405020304" pitchFamily="18" charset="0"/>
                <a:cs typeface="Times New Roman" panose="02020603050405020304" pitchFamily="18" charset="0"/>
              </a:rPr>
              <a:t>Problem Statement</a:t>
            </a:r>
            <a:br>
              <a:rPr lang="en-US" dirty="0"/>
            </a:br>
            <a:endParaRPr lang="en-US" dirty="0"/>
          </a:p>
        </p:txBody>
      </p:sp>
      <p:sp>
        <p:nvSpPr>
          <p:cNvPr id="3" name="Content Placeholder 2">
            <a:extLst>
              <a:ext uri="{FF2B5EF4-FFF2-40B4-BE49-F238E27FC236}">
                <a16:creationId xmlns:a16="http://schemas.microsoft.com/office/drawing/2014/main" id="{89B5AF11-949B-4DBB-AFE8-7C6B8FD6B523}"/>
              </a:ext>
            </a:extLst>
          </p:cNvPr>
          <p:cNvSpPr>
            <a:spLocks noGrp="1"/>
          </p:cNvSpPr>
          <p:nvPr>
            <p:ph idx="1"/>
          </p:nvPr>
        </p:nvSpPr>
        <p:spPr/>
        <p:txBody>
          <a:bodyPr>
            <a:normAutofit fontScale="40000" lnSpcReduction="20000"/>
          </a:bodyPr>
          <a:lstStyle/>
          <a:p>
            <a:endParaRPr lang="en-GB" dirty="0"/>
          </a:p>
          <a:p>
            <a:r>
              <a:rPr lang="en-GB" sz="5500" dirty="0">
                <a:latin typeface="Times New Roman" panose="02020603050405020304" pitchFamily="18" charset="0"/>
                <a:cs typeface="Times New Roman" panose="02020603050405020304" pitchFamily="18" charset="0"/>
              </a:rPr>
              <a:t>Despite increasing access to higher education, many graduates struggle to secure well-paying jobs or experience slow career progression after graduation. There is often uncertainty about which factors truly influence career success   whether academic performance, internships, certifications, soft skills, or networking plays the most significant role.</a:t>
            </a:r>
          </a:p>
          <a:p>
            <a:r>
              <a:rPr lang="en-GB" sz="5500" dirty="0">
                <a:latin typeface="Times New Roman" panose="02020603050405020304" pitchFamily="18" charset="0"/>
                <a:cs typeface="Times New Roman" panose="02020603050405020304" pitchFamily="18" charset="0"/>
              </a:rPr>
              <a:t>Students frequently invest time and resources into improving their GPA or obtaining degrees without clear evidence of how these efforts translate into real world outcomes such as employment, salary growth, or job satisfaction. At the same time, employers emphasize skills such as communication, teamwork, and experience, which are not always reflected in academic results.</a:t>
            </a:r>
          </a:p>
          <a:p>
            <a:r>
              <a:rPr lang="en-GB" sz="5500" dirty="0">
                <a:latin typeface="Times New Roman" panose="02020603050405020304" pitchFamily="18" charset="0"/>
                <a:cs typeface="Times New Roman" panose="02020603050405020304" pitchFamily="18" charset="0"/>
              </a:rPr>
              <a:t>This creates a gap in understanding the relative importance of academic achievement, practical exposure, and soft skills in determining early career success. This project aims to bridge that gap by using data analysis to identify the factors that most strongly influence career outcomes.</a:t>
            </a:r>
            <a:endParaRPr lang="en-US" sz="5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2409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BACEB-AEEC-4CDF-BBAA-EFB00959BF4C}"/>
              </a:ext>
            </a:extLst>
          </p:cNvPr>
          <p:cNvSpPr>
            <a:spLocks noGrp="1"/>
          </p:cNvSpPr>
          <p:nvPr>
            <p:ph type="title"/>
          </p:nvPr>
        </p:nvSpPr>
        <p:spPr/>
        <p:txBody>
          <a:bodyPr>
            <a:normAutofit/>
          </a:bodyPr>
          <a:lstStyle/>
          <a:p>
            <a:r>
              <a:rPr lang="en-GB" b="1" i="0" dirty="0">
                <a:solidFill>
                  <a:srgbClr val="1F1F1F"/>
                </a:solidFill>
                <a:effectLst/>
                <a:latin typeface="Times New Roman" panose="02020603050405020304" pitchFamily="18" charset="0"/>
                <a:cs typeface="Times New Roman" panose="02020603050405020304" pitchFamily="18" charset="0"/>
              </a:rPr>
              <a:t>Objectives of the Study</a:t>
            </a:r>
            <a:br>
              <a:rPr lang="en-GB" b="0" i="0" dirty="0">
                <a:solidFill>
                  <a:srgbClr val="1F1F1F"/>
                </a:solidFill>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C19B7A-2F1E-48AD-9D3E-2341A45AD037}"/>
              </a:ext>
            </a:extLst>
          </p:cNvPr>
          <p:cNvSpPr>
            <a:spLocks noGrp="1"/>
          </p:cNvSpPr>
          <p:nvPr>
            <p:ph idx="1"/>
          </p:nvPr>
        </p:nvSpPr>
        <p:spPr/>
        <p:txBody>
          <a:bodyPr>
            <a:normAutofit fontScale="70000" lnSpcReduction="20000"/>
          </a:bodyPr>
          <a:lstStyle/>
          <a:p>
            <a:pPr algn="l"/>
            <a:r>
              <a:rPr lang="en-GB" sz="3100" b="0" i="0" dirty="0">
                <a:solidFill>
                  <a:srgbClr val="1F1F1F"/>
                </a:solidFill>
                <a:effectLst/>
                <a:latin typeface="Times New Roman" panose="02020603050405020304" pitchFamily="18" charset="0"/>
                <a:cs typeface="Times New Roman" panose="02020603050405020304" pitchFamily="18" charset="0"/>
              </a:rPr>
              <a:t>The main objective of this project is to analyse how students’ academic performance, skills, and extracurricular activities affect their career outcomes.</a:t>
            </a:r>
          </a:p>
          <a:p>
            <a:pPr algn="l"/>
            <a:r>
              <a:rPr lang="en-GB" sz="3100" b="1" i="0" dirty="0">
                <a:solidFill>
                  <a:srgbClr val="1F1F1F"/>
                </a:solidFill>
                <a:effectLst/>
                <a:latin typeface="Times New Roman" panose="02020603050405020304" pitchFamily="18" charset="0"/>
                <a:cs typeface="Times New Roman" panose="02020603050405020304" pitchFamily="18" charset="0"/>
              </a:rPr>
              <a:t>Specific Objectives:</a:t>
            </a:r>
            <a:endParaRPr lang="en-GB" sz="3100" b="0" i="0" dirty="0">
              <a:solidFill>
                <a:srgbClr val="1F1F1F"/>
              </a:solidFill>
              <a:effectLst/>
              <a:latin typeface="Times New Roman" panose="02020603050405020304" pitchFamily="18" charset="0"/>
              <a:cs typeface="Times New Roman" panose="02020603050405020304" pitchFamily="18" charset="0"/>
            </a:endParaRPr>
          </a:p>
          <a:p>
            <a:pPr algn="l">
              <a:buFont typeface="+mj-lt"/>
              <a:buAutoNum type="arabicPeriod"/>
            </a:pPr>
            <a:r>
              <a:rPr lang="en-GB" sz="3100" b="0" i="0" dirty="0">
                <a:solidFill>
                  <a:srgbClr val="1F1F1F"/>
                </a:solidFill>
                <a:effectLst/>
                <a:latin typeface="Times New Roman" panose="02020603050405020304" pitchFamily="18" charset="0"/>
                <a:cs typeface="Times New Roman" panose="02020603050405020304" pitchFamily="18" charset="0"/>
              </a:rPr>
              <a:t>To examine the relationship between academic performance (GPA, SAT scores) and career outcomes such as salary and job offers.</a:t>
            </a:r>
          </a:p>
          <a:p>
            <a:pPr algn="l">
              <a:buFont typeface="+mj-lt"/>
              <a:buAutoNum type="arabicPeriod"/>
            </a:pPr>
            <a:r>
              <a:rPr lang="en-GB" sz="3100" b="0" i="0" dirty="0">
                <a:solidFill>
                  <a:srgbClr val="1F1F1F"/>
                </a:solidFill>
                <a:effectLst/>
                <a:latin typeface="Times New Roman" panose="02020603050405020304" pitchFamily="18" charset="0"/>
                <a:cs typeface="Times New Roman" panose="02020603050405020304" pitchFamily="18" charset="0"/>
              </a:rPr>
              <a:t>To analyse how internships, projects, and certifications influence employability and promotion speed.</a:t>
            </a:r>
          </a:p>
          <a:p>
            <a:pPr algn="l">
              <a:buFont typeface="+mj-lt"/>
              <a:buAutoNum type="arabicPeriod"/>
            </a:pPr>
            <a:r>
              <a:rPr lang="en-GB" sz="3100" b="0" i="0" dirty="0">
                <a:solidFill>
                  <a:srgbClr val="1F1F1F"/>
                </a:solidFill>
                <a:effectLst/>
                <a:latin typeface="Times New Roman" panose="02020603050405020304" pitchFamily="18" charset="0"/>
                <a:cs typeface="Times New Roman" panose="02020603050405020304" pitchFamily="18" charset="0"/>
              </a:rPr>
              <a:t>To evaluate the impact of soft skills and networking ability on career satisfaction and job level.</a:t>
            </a:r>
          </a:p>
          <a:p>
            <a:pPr algn="l">
              <a:buFont typeface="+mj-lt"/>
              <a:buAutoNum type="arabicPeriod"/>
            </a:pPr>
            <a:r>
              <a:rPr lang="en-GB" sz="3100" b="0" i="0" dirty="0">
                <a:solidFill>
                  <a:srgbClr val="1F1F1F"/>
                </a:solidFill>
                <a:effectLst/>
                <a:latin typeface="Times New Roman" panose="02020603050405020304" pitchFamily="18" charset="0"/>
                <a:cs typeface="Times New Roman" panose="02020603050405020304" pitchFamily="18" charset="0"/>
              </a:rPr>
              <a:t>To identify which factors have the strongest influence on early career success.</a:t>
            </a:r>
          </a:p>
          <a:p>
            <a:pPr algn="l">
              <a:buFont typeface="+mj-lt"/>
              <a:buAutoNum type="arabicPeriod"/>
            </a:pPr>
            <a:r>
              <a:rPr lang="en-GB" sz="3100" b="0" i="0" dirty="0">
                <a:solidFill>
                  <a:srgbClr val="1F1F1F"/>
                </a:solidFill>
                <a:effectLst/>
                <a:latin typeface="Times New Roman" panose="02020603050405020304" pitchFamily="18" charset="0"/>
                <a:cs typeface="Times New Roman" panose="02020603050405020304" pitchFamily="18" charset="0"/>
              </a:rPr>
              <a:t>To use data visualization and statistical analysis to present insights clearly and effectively.</a:t>
            </a:r>
          </a:p>
          <a:p>
            <a:endParaRPr lang="en-US" dirty="0"/>
          </a:p>
        </p:txBody>
      </p:sp>
    </p:spTree>
    <p:extLst>
      <p:ext uri="{BB962C8B-B14F-4D97-AF65-F5344CB8AC3E}">
        <p14:creationId xmlns:p14="http://schemas.microsoft.com/office/powerpoint/2010/main" val="2619713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46C00-626D-459F-84C2-162DAC03D4CC}"/>
              </a:ext>
            </a:extLst>
          </p:cNvPr>
          <p:cNvSpPr>
            <a:spLocks noGrp="1"/>
          </p:cNvSpPr>
          <p:nvPr>
            <p:ph type="title"/>
          </p:nvPr>
        </p:nvSpPr>
        <p:spPr/>
        <p:txBody>
          <a:bodyPr>
            <a:normAutofit/>
          </a:bodyPr>
          <a:lstStyle/>
          <a:p>
            <a:r>
              <a:rPr lang="en-US" sz="6600" dirty="0">
                <a:latin typeface="Times New Roman" panose="02020603050405020304" pitchFamily="18" charset="0"/>
                <a:cs typeface="Times New Roman" panose="02020603050405020304" pitchFamily="18" charset="0"/>
              </a:rPr>
              <a:t>GENDER DISTRIBUTION</a:t>
            </a:r>
          </a:p>
        </p:txBody>
      </p:sp>
      <p:pic>
        <p:nvPicPr>
          <p:cNvPr id="4" name="Content Placeholder 3">
            <a:extLst>
              <a:ext uri="{FF2B5EF4-FFF2-40B4-BE49-F238E27FC236}">
                <a16:creationId xmlns:a16="http://schemas.microsoft.com/office/drawing/2014/main" id="{CAADE04F-1A76-4C1B-9E3A-DC18DA64AF15}"/>
              </a:ext>
            </a:extLst>
          </p:cNvPr>
          <p:cNvPicPr>
            <a:picLocks noGrp="1" noChangeAspect="1"/>
          </p:cNvPicPr>
          <p:nvPr>
            <p:ph idx="1"/>
          </p:nvPr>
        </p:nvPicPr>
        <p:blipFill>
          <a:blip r:embed="rId2"/>
          <a:stretch>
            <a:fillRect/>
          </a:stretch>
        </p:blipFill>
        <p:spPr>
          <a:xfrm>
            <a:off x="1973178" y="1846263"/>
            <a:ext cx="8305969" cy="4022725"/>
          </a:xfrm>
          <a:prstGeom prst="rect">
            <a:avLst/>
          </a:prstGeom>
        </p:spPr>
      </p:pic>
      <p:sp>
        <p:nvSpPr>
          <p:cNvPr id="5" name="TextBox 4">
            <a:extLst>
              <a:ext uri="{FF2B5EF4-FFF2-40B4-BE49-F238E27FC236}">
                <a16:creationId xmlns:a16="http://schemas.microsoft.com/office/drawing/2014/main" id="{1EFA5DA1-F468-4E54-BC67-25FE8AEE6676}"/>
              </a:ext>
            </a:extLst>
          </p:cNvPr>
          <p:cNvSpPr txBox="1"/>
          <p:nvPr/>
        </p:nvSpPr>
        <p:spPr>
          <a:xfrm>
            <a:off x="515006" y="5868988"/>
            <a:ext cx="3258207" cy="369332"/>
          </a:xfrm>
          <a:prstGeom prst="rect">
            <a:avLst/>
          </a:prstGeom>
          <a:solidFill>
            <a:schemeClr val="accent2"/>
          </a:solidFill>
        </p:spPr>
        <p:txBody>
          <a:bodyPr wrap="square" rtlCol="0">
            <a:spAutoFit/>
          </a:bodyPr>
          <a:lstStyle/>
          <a:p>
            <a:r>
              <a:rPr lang="en-US" dirty="0">
                <a:latin typeface="Times New Roman" panose="02020603050405020304" pitchFamily="18" charset="0"/>
                <a:cs typeface="Times New Roman" panose="02020603050405020304" pitchFamily="18" charset="0"/>
              </a:rPr>
              <a:t>Equal gender distribution. </a:t>
            </a:r>
          </a:p>
        </p:txBody>
      </p:sp>
    </p:spTree>
    <p:extLst>
      <p:ext uri="{BB962C8B-B14F-4D97-AF65-F5344CB8AC3E}">
        <p14:creationId xmlns:p14="http://schemas.microsoft.com/office/powerpoint/2010/main" val="674894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86D6B-8A40-496E-A48A-D44FA6D8C3D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FIELD OF STUDY DISTRIBUTION</a:t>
            </a:r>
          </a:p>
        </p:txBody>
      </p:sp>
      <p:pic>
        <p:nvPicPr>
          <p:cNvPr id="4" name="Content Placeholder 3">
            <a:extLst>
              <a:ext uri="{FF2B5EF4-FFF2-40B4-BE49-F238E27FC236}">
                <a16:creationId xmlns:a16="http://schemas.microsoft.com/office/drawing/2014/main" id="{E05B5887-4499-4D60-B0F6-1977CCD91A7F}"/>
              </a:ext>
            </a:extLst>
          </p:cNvPr>
          <p:cNvPicPr>
            <a:picLocks noGrp="1" noChangeAspect="1"/>
          </p:cNvPicPr>
          <p:nvPr>
            <p:ph idx="1"/>
          </p:nvPr>
        </p:nvPicPr>
        <p:blipFill>
          <a:blip r:embed="rId2"/>
          <a:stretch>
            <a:fillRect/>
          </a:stretch>
        </p:blipFill>
        <p:spPr>
          <a:xfrm>
            <a:off x="1973178" y="1846263"/>
            <a:ext cx="8305969" cy="4022725"/>
          </a:xfrm>
          <a:prstGeom prst="rect">
            <a:avLst/>
          </a:prstGeom>
        </p:spPr>
      </p:pic>
      <p:sp>
        <p:nvSpPr>
          <p:cNvPr id="5" name="TextBox 4">
            <a:extLst>
              <a:ext uri="{FF2B5EF4-FFF2-40B4-BE49-F238E27FC236}">
                <a16:creationId xmlns:a16="http://schemas.microsoft.com/office/drawing/2014/main" id="{D5B270E6-26B3-4360-874F-5777B7FF93AD}"/>
              </a:ext>
            </a:extLst>
          </p:cNvPr>
          <p:cNvSpPr txBox="1"/>
          <p:nvPr/>
        </p:nvSpPr>
        <p:spPr>
          <a:xfrm>
            <a:off x="189186" y="5654725"/>
            <a:ext cx="2848304" cy="646331"/>
          </a:xfrm>
          <a:prstGeom prst="rect">
            <a:avLst/>
          </a:prstGeom>
          <a:solidFill>
            <a:schemeClr val="accent2"/>
          </a:solidFill>
          <a:ln>
            <a:solidFill>
              <a:schemeClr val="accent1"/>
            </a:solidFill>
          </a:ln>
        </p:spPr>
        <p:txBody>
          <a:bodyPr wrap="square" rtlCol="0">
            <a:spAutoFit/>
          </a:bodyPr>
          <a:lstStyle/>
          <a:p>
            <a:r>
              <a:rPr lang="en-US" sz="1200" dirty="0">
                <a:latin typeface="Times New Roman" panose="02020603050405020304" pitchFamily="18" charset="0"/>
                <a:cs typeface="Times New Roman" panose="02020603050405020304" pitchFamily="18" charset="0"/>
              </a:rPr>
              <a:t>Business topped as highest number of course offered while Nursing and Education had ;same figure at the bottom. </a:t>
            </a:r>
          </a:p>
        </p:txBody>
      </p:sp>
    </p:spTree>
    <p:extLst>
      <p:ext uri="{BB962C8B-B14F-4D97-AF65-F5344CB8AC3E}">
        <p14:creationId xmlns:p14="http://schemas.microsoft.com/office/powerpoint/2010/main" val="485464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A1E70-BDE8-482E-A7C6-1CC5C5C426A7}"/>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CURRENT JOB LEVEL DISTRIBUTION</a:t>
            </a:r>
          </a:p>
        </p:txBody>
      </p:sp>
      <p:pic>
        <p:nvPicPr>
          <p:cNvPr id="4" name="Content Placeholder 3">
            <a:extLst>
              <a:ext uri="{FF2B5EF4-FFF2-40B4-BE49-F238E27FC236}">
                <a16:creationId xmlns:a16="http://schemas.microsoft.com/office/drawing/2014/main" id="{9E8F46CD-28EF-4D5D-AD5C-19C053ED99D2}"/>
              </a:ext>
            </a:extLst>
          </p:cNvPr>
          <p:cNvPicPr>
            <a:picLocks noGrp="1" noChangeAspect="1"/>
          </p:cNvPicPr>
          <p:nvPr>
            <p:ph idx="1"/>
          </p:nvPr>
        </p:nvPicPr>
        <p:blipFill>
          <a:blip r:embed="rId2"/>
          <a:stretch>
            <a:fillRect/>
          </a:stretch>
        </p:blipFill>
        <p:spPr>
          <a:xfrm>
            <a:off x="1973178" y="1846263"/>
            <a:ext cx="8305969" cy="4022725"/>
          </a:xfrm>
          <a:prstGeom prst="rect">
            <a:avLst/>
          </a:prstGeom>
        </p:spPr>
      </p:pic>
      <p:sp>
        <p:nvSpPr>
          <p:cNvPr id="5" name="TextBox 4">
            <a:extLst>
              <a:ext uri="{FF2B5EF4-FFF2-40B4-BE49-F238E27FC236}">
                <a16:creationId xmlns:a16="http://schemas.microsoft.com/office/drawing/2014/main" id="{1AD6FA33-8094-450E-B2D4-FDFEE8126A73}"/>
              </a:ext>
            </a:extLst>
          </p:cNvPr>
          <p:cNvSpPr txBox="1"/>
          <p:nvPr/>
        </p:nvSpPr>
        <p:spPr>
          <a:xfrm>
            <a:off x="252247" y="5659434"/>
            <a:ext cx="2816773" cy="584775"/>
          </a:xfrm>
          <a:prstGeom prst="rect">
            <a:avLst/>
          </a:prstGeom>
          <a:solidFill>
            <a:schemeClr val="accent2"/>
          </a:solidFill>
        </p:spPr>
        <p:txBody>
          <a:bodyPr wrap="square" rtlCol="0">
            <a:spAutoFit/>
          </a:bodyPr>
          <a:lstStyle/>
          <a:p>
            <a:r>
              <a:rPr lang="en-US" sz="1600" dirty="0">
                <a:latin typeface="Times New Roman" panose="02020603050405020304" pitchFamily="18" charset="0"/>
                <a:cs typeface="Times New Roman" panose="02020603050405020304" pitchFamily="18" charset="0"/>
              </a:rPr>
              <a:t>Most people are at the mid level of their respective jobs.</a:t>
            </a:r>
          </a:p>
        </p:txBody>
      </p:sp>
    </p:spTree>
    <p:extLst>
      <p:ext uri="{BB962C8B-B14F-4D97-AF65-F5344CB8AC3E}">
        <p14:creationId xmlns:p14="http://schemas.microsoft.com/office/powerpoint/2010/main" val="2654391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54E99-742C-4954-AE92-570F0C710DB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ANALYSIS</a:t>
            </a:r>
          </a:p>
        </p:txBody>
      </p:sp>
    </p:spTree>
    <p:extLst>
      <p:ext uri="{BB962C8B-B14F-4D97-AF65-F5344CB8AC3E}">
        <p14:creationId xmlns:p14="http://schemas.microsoft.com/office/powerpoint/2010/main" val="3882044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192CB-C1CD-4338-A5A3-7922D04C2489}"/>
              </a:ext>
            </a:extLst>
          </p:cNvPr>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ACADEMIC PERFORMANCE(GPA) AND STARTING SALARY</a:t>
            </a:r>
          </a:p>
        </p:txBody>
      </p:sp>
      <p:pic>
        <p:nvPicPr>
          <p:cNvPr id="4" name="Content Placeholder 3">
            <a:extLst>
              <a:ext uri="{FF2B5EF4-FFF2-40B4-BE49-F238E27FC236}">
                <a16:creationId xmlns:a16="http://schemas.microsoft.com/office/drawing/2014/main" id="{8A20236B-A1D3-4CB7-A4B5-FC5D925CC028}"/>
              </a:ext>
            </a:extLst>
          </p:cNvPr>
          <p:cNvPicPr>
            <a:picLocks noGrp="1" noChangeAspect="1"/>
          </p:cNvPicPr>
          <p:nvPr>
            <p:ph idx="1"/>
          </p:nvPr>
        </p:nvPicPr>
        <p:blipFill>
          <a:blip r:embed="rId2"/>
          <a:stretch>
            <a:fillRect/>
          </a:stretch>
        </p:blipFill>
        <p:spPr>
          <a:xfrm>
            <a:off x="3040647" y="1846263"/>
            <a:ext cx="6171031" cy="4022725"/>
          </a:xfrm>
          <a:prstGeom prst="rect">
            <a:avLst/>
          </a:prstGeom>
        </p:spPr>
      </p:pic>
    </p:spTree>
    <p:extLst>
      <p:ext uri="{BB962C8B-B14F-4D97-AF65-F5344CB8AC3E}">
        <p14:creationId xmlns:p14="http://schemas.microsoft.com/office/powerpoint/2010/main" val="1816854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9A76-36A0-42D5-827E-FE4C1766580E}"/>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INSIGHT ON CORRELATION BETWEEN UNIVERSITY GPA AND STARTING SALARY</a:t>
            </a:r>
          </a:p>
        </p:txBody>
      </p:sp>
      <p:sp>
        <p:nvSpPr>
          <p:cNvPr id="3" name="Content Placeholder 2">
            <a:extLst>
              <a:ext uri="{FF2B5EF4-FFF2-40B4-BE49-F238E27FC236}">
                <a16:creationId xmlns:a16="http://schemas.microsoft.com/office/drawing/2014/main" id="{EBADCD37-EE2C-4F2C-92D0-CE35AAC2FEBA}"/>
              </a:ext>
            </a:extLst>
          </p:cNvPr>
          <p:cNvSpPr>
            <a:spLocks noGrp="1"/>
          </p:cNvSpPr>
          <p:nvPr>
            <p:ph idx="1"/>
          </p:nvPr>
        </p:nvSpPr>
        <p:spPr/>
        <p:txBody>
          <a:bodyPr>
            <a:normAutofit fontScale="92500"/>
          </a:bodyPr>
          <a:lstStyle/>
          <a:p>
            <a:r>
              <a:rPr lang="en-GB" sz="3600" b="0" i="0" dirty="0">
                <a:solidFill>
                  <a:srgbClr val="1F1F1F"/>
                </a:solidFill>
                <a:effectLst/>
                <a:latin typeface="Times New Roman" panose="02020603050405020304" pitchFamily="18" charset="0"/>
                <a:cs typeface="Times New Roman" panose="02020603050405020304" pitchFamily="18" charset="0"/>
              </a:rPr>
              <a:t>The correlation coefficient of 0.956 between university GPA and starting salary indicates a very strong positive relationship. This suggests that students with higher academic performance tend to secure higher-paying jobs after graduation. The result highlights the importance of academic excellence in influencing early career earnings, although other factors such as experience and skills also contribute to career success.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3113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77886-BBA0-4AB7-AD3C-FE0C03ECCF9E}"/>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ACADEMIC PERFORMANCE(SAT) AND JOB OFFERS</a:t>
            </a:r>
          </a:p>
        </p:txBody>
      </p:sp>
      <p:pic>
        <p:nvPicPr>
          <p:cNvPr id="4" name="Content Placeholder 3">
            <a:extLst>
              <a:ext uri="{FF2B5EF4-FFF2-40B4-BE49-F238E27FC236}">
                <a16:creationId xmlns:a16="http://schemas.microsoft.com/office/drawing/2014/main" id="{D5EA1ED7-BCD9-4AF4-9657-F73E3A535A9A}"/>
              </a:ext>
            </a:extLst>
          </p:cNvPr>
          <p:cNvPicPr>
            <a:picLocks noGrp="1" noChangeAspect="1"/>
          </p:cNvPicPr>
          <p:nvPr>
            <p:ph idx="1"/>
          </p:nvPr>
        </p:nvPicPr>
        <p:blipFill>
          <a:blip r:embed="rId2"/>
          <a:stretch>
            <a:fillRect/>
          </a:stretch>
        </p:blipFill>
        <p:spPr>
          <a:xfrm>
            <a:off x="3156194" y="1846263"/>
            <a:ext cx="5939938" cy="4022725"/>
          </a:xfrm>
          <a:prstGeom prst="rect">
            <a:avLst/>
          </a:prstGeom>
        </p:spPr>
      </p:pic>
      <p:sp>
        <p:nvSpPr>
          <p:cNvPr id="5" name="TextBox 4">
            <a:extLst>
              <a:ext uri="{FF2B5EF4-FFF2-40B4-BE49-F238E27FC236}">
                <a16:creationId xmlns:a16="http://schemas.microsoft.com/office/drawing/2014/main" id="{EF431BB3-91D2-47B8-AB11-D06A7B333EFD}"/>
              </a:ext>
            </a:extLst>
          </p:cNvPr>
          <p:cNvSpPr txBox="1"/>
          <p:nvPr/>
        </p:nvSpPr>
        <p:spPr>
          <a:xfrm>
            <a:off x="115614" y="5622647"/>
            <a:ext cx="3300248" cy="646331"/>
          </a:xfrm>
          <a:prstGeom prst="rect">
            <a:avLst/>
          </a:prstGeom>
          <a:solidFill>
            <a:schemeClr val="accent2"/>
          </a:solidFill>
        </p:spPr>
        <p:txBody>
          <a:bodyPr wrap="square" rtlCol="0">
            <a:spAutoFit/>
          </a:bodyPr>
          <a:lstStyle/>
          <a:p>
            <a:r>
              <a:rPr lang="en-GB" dirty="0">
                <a:latin typeface="Times New Roman" panose="02020603050405020304" pitchFamily="18" charset="0"/>
                <a:cs typeface="Times New Roman" panose="02020603050405020304" pitchFamily="18" charset="0"/>
              </a:rPr>
              <a:t>Also a higher score in SAT leads to high number of job offers.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6803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0EEEB-8C11-482A-A9E3-6B412401065E}"/>
              </a:ext>
            </a:extLst>
          </p:cNvPr>
          <p:cNvSpPr>
            <a:spLocks noGrp="1"/>
          </p:cNvSpPr>
          <p:nvPr>
            <p:ph type="title"/>
          </p:nvPr>
        </p:nvSpPr>
        <p:spPr>
          <a:xfrm>
            <a:off x="1097280" y="1187669"/>
            <a:ext cx="10058400" cy="549691"/>
          </a:xfrm>
        </p:spPr>
        <p:txBody>
          <a:bodyPr>
            <a:normAutofit/>
          </a:bodyPr>
          <a:lstStyle/>
          <a:p>
            <a:r>
              <a:rPr lang="en-US" sz="2800" dirty="0">
                <a:latin typeface="Times New Roman" panose="02020603050405020304" pitchFamily="18" charset="0"/>
                <a:cs typeface="Times New Roman" panose="02020603050405020304" pitchFamily="18" charset="0"/>
              </a:rPr>
              <a:t>RELATIONSHIP BETWEEN INTERNSHIPS AND JOB OFFERS</a:t>
            </a:r>
          </a:p>
        </p:txBody>
      </p:sp>
      <p:pic>
        <p:nvPicPr>
          <p:cNvPr id="4" name="Content Placeholder 3">
            <a:extLst>
              <a:ext uri="{FF2B5EF4-FFF2-40B4-BE49-F238E27FC236}">
                <a16:creationId xmlns:a16="http://schemas.microsoft.com/office/drawing/2014/main" id="{45D447E7-62C3-47D9-91C5-0C09A29B3E8A}"/>
              </a:ext>
            </a:extLst>
          </p:cNvPr>
          <p:cNvPicPr>
            <a:picLocks noGrp="1" noChangeAspect="1"/>
          </p:cNvPicPr>
          <p:nvPr>
            <p:ph idx="1"/>
          </p:nvPr>
        </p:nvPicPr>
        <p:blipFill>
          <a:blip r:embed="rId2"/>
          <a:stretch>
            <a:fillRect/>
          </a:stretch>
        </p:blipFill>
        <p:spPr>
          <a:xfrm>
            <a:off x="3677163" y="1846263"/>
            <a:ext cx="4897999" cy="4022725"/>
          </a:xfrm>
          <a:prstGeom prst="rect">
            <a:avLst/>
          </a:prstGeom>
        </p:spPr>
      </p:pic>
    </p:spTree>
    <p:extLst>
      <p:ext uri="{BB962C8B-B14F-4D97-AF65-F5344CB8AC3E}">
        <p14:creationId xmlns:p14="http://schemas.microsoft.com/office/powerpoint/2010/main" val="4004112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964EF-BD3C-4C23-BE3E-2BB2D0B23D8A}"/>
              </a:ext>
            </a:extLst>
          </p:cNvPr>
          <p:cNvSpPr>
            <a:spLocks noGrp="1"/>
          </p:cNvSpPr>
          <p:nvPr>
            <p:ph type="title"/>
          </p:nvPr>
        </p:nvSpPr>
        <p:spPr>
          <a:xfrm>
            <a:off x="1097280" y="451945"/>
            <a:ext cx="10058400" cy="1285415"/>
          </a:xfrm>
        </p:spPr>
        <p:txBody>
          <a:bodyPr>
            <a:normAutofit/>
          </a:bodyPr>
          <a:lstStyle/>
          <a:p>
            <a:r>
              <a:rPr lang="en-US" sz="3200" dirty="0">
                <a:latin typeface="Times New Roman" panose="02020603050405020304" pitchFamily="18" charset="0"/>
                <a:cs typeface="Times New Roman" panose="02020603050405020304" pitchFamily="18" charset="0"/>
              </a:rPr>
              <a:t>INSIGHT ON RELATIONSHIP BETWEEN INTERNSHIPS VS JOB OFFERS</a:t>
            </a:r>
          </a:p>
        </p:txBody>
      </p:sp>
      <p:sp>
        <p:nvSpPr>
          <p:cNvPr id="3" name="Content Placeholder 2">
            <a:extLst>
              <a:ext uri="{FF2B5EF4-FFF2-40B4-BE49-F238E27FC236}">
                <a16:creationId xmlns:a16="http://schemas.microsoft.com/office/drawing/2014/main" id="{79E0D53D-3989-41F1-ACE8-74A660D68E4A}"/>
              </a:ext>
            </a:extLst>
          </p:cNvPr>
          <p:cNvSpPr>
            <a:spLocks noGrp="1"/>
          </p:cNvSpPr>
          <p:nvPr>
            <p:ph idx="1"/>
          </p:nvPr>
        </p:nvSpPr>
        <p:spPr/>
        <p:txBody>
          <a:bodyPr>
            <a:normAutofit/>
          </a:bodyPr>
          <a:lstStyle/>
          <a:p>
            <a:r>
              <a:rPr lang="en-GB" sz="2800" dirty="0">
                <a:latin typeface="Times New Roman" panose="02020603050405020304" pitchFamily="18" charset="0"/>
                <a:cs typeface="Times New Roman" panose="02020603050405020304" pitchFamily="18" charset="0"/>
              </a:rPr>
              <a:t>The boxplot analysis of internships completed versus job offers received indicates a very strong positive relationship, consistent with the high correlation observed in the data. This suggests that as students complete more internships, the median number of job offers they receive increases significantly and predictably. The result highlights the critical role of practical experience in enhancing a candidate's marketability, as each additional internship effectively shifts the entire distribution of job offers upward, although individual variations in interview skills and networking still influence the specific outcomes for each student.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3904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C15F5-6CE5-4527-9766-17A42E3009BF}"/>
              </a:ext>
            </a:extLst>
          </p:cNvPr>
          <p:cNvSpPr>
            <a:spLocks noGrp="1"/>
          </p:cNvSpPr>
          <p:nvPr>
            <p:ph type="title"/>
          </p:nvPr>
        </p:nvSpPr>
        <p:spPr>
          <a:xfrm>
            <a:off x="1097280" y="1198179"/>
            <a:ext cx="10058400" cy="539181"/>
          </a:xfrm>
        </p:spPr>
        <p:txBody>
          <a:bodyPr>
            <a:normAutofit/>
          </a:bodyPr>
          <a:lstStyle/>
          <a:p>
            <a:r>
              <a:rPr lang="en-US" sz="2400" dirty="0">
                <a:latin typeface="Times New Roman" panose="02020603050405020304" pitchFamily="18" charset="0"/>
                <a:cs typeface="Times New Roman" panose="02020603050405020304" pitchFamily="18" charset="0"/>
              </a:rPr>
              <a:t>RELATIONSHIP BETWEEN PROJECTS AND YEARS TO PROMOTION</a:t>
            </a:r>
          </a:p>
        </p:txBody>
      </p:sp>
      <p:pic>
        <p:nvPicPr>
          <p:cNvPr id="4" name="Content Placeholder 3">
            <a:extLst>
              <a:ext uri="{FF2B5EF4-FFF2-40B4-BE49-F238E27FC236}">
                <a16:creationId xmlns:a16="http://schemas.microsoft.com/office/drawing/2014/main" id="{263D0D75-301F-4E52-B22D-523022872E04}"/>
              </a:ext>
            </a:extLst>
          </p:cNvPr>
          <p:cNvPicPr>
            <a:picLocks noGrp="1" noChangeAspect="1"/>
          </p:cNvPicPr>
          <p:nvPr>
            <p:ph idx="1"/>
          </p:nvPr>
        </p:nvPicPr>
        <p:blipFill>
          <a:blip r:embed="rId2"/>
          <a:stretch>
            <a:fillRect/>
          </a:stretch>
        </p:blipFill>
        <p:spPr>
          <a:xfrm>
            <a:off x="3619696" y="1846263"/>
            <a:ext cx="5012934" cy="4022725"/>
          </a:xfrm>
          <a:prstGeom prst="rect">
            <a:avLst/>
          </a:prstGeom>
        </p:spPr>
      </p:pic>
    </p:spTree>
    <p:extLst>
      <p:ext uri="{BB962C8B-B14F-4D97-AF65-F5344CB8AC3E}">
        <p14:creationId xmlns:p14="http://schemas.microsoft.com/office/powerpoint/2010/main" val="15567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FCAC7-74CC-4279-87A3-11249ADE4A16}"/>
              </a:ext>
            </a:extLst>
          </p:cNvPr>
          <p:cNvSpPr>
            <a:spLocks noGrp="1"/>
          </p:cNvSpPr>
          <p:nvPr>
            <p:ph type="title"/>
          </p:nvPr>
        </p:nvSpPr>
        <p:spPr>
          <a:xfrm>
            <a:off x="1097280" y="367863"/>
            <a:ext cx="10058400" cy="1369498"/>
          </a:xfrm>
        </p:spPr>
        <p:txBody>
          <a:bodyPr>
            <a:normAutofit/>
          </a:bodyPr>
          <a:lstStyle/>
          <a:p>
            <a:r>
              <a:rPr lang="en-GB" sz="3600" dirty="0">
                <a:latin typeface="Times New Roman" panose="02020603050405020304" pitchFamily="18" charset="0"/>
                <a:cs typeface="Times New Roman" panose="02020603050405020304" pitchFamily="18" charset="0"/>
              </a:rPr>
              <a:t>INISGHTS RELATIONSHIP BETWEEN PROJECTS AND YEARS TO PROMOTION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95D3146-7F42-4D2C-AC6C-BF97A2DE937C}"/>
              </a:ext>
            </a:extLst>
          </p:cNvPr>
          <p:cNvSpPr>
            <a:spLocks noGrp="1"/>
          </p:cNvSpPr>
          <p:nvPr>
            <p:ph idx="1"/>
          </p:nvPr>
        </p:nvSpPr>
        <p:spPr/>
        <p:txBody>
          <a:bodyPr>
            <a:normAutofit lnSpcReduction="10000"/>
          </a:bodyPr>
          <a:lstStyle/>
          <a:p>
            <a:r>
              <a:rPr lang="en-GB" sz="3200" dirty="0">
                <a:latin typeface="Times New Roman" panose="02020603050405020304" pitchFamily="18" charset="0"/>
                <a:cs typeface="Times New Roman" panose="02020603050405020304" pitchFamily="18" charset="0"/>
              </a:rPr>
              <a:t>The scatterplot analysis of projects completed versus years to promotion indicates a strong negative relationship. This suggests that as students or employees complete a higher number of projects, the time required to secure a promotion tends to decrease. The result highlights the importance of tangible output and project-based experience in accelerating career advancement, although other factors such as company policy, leadership style, and specific role requirements also contribute to the speed of professional growth.</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1660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7C5C8-4A42-4939-BFDB-8F04272D0E4A}"/>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RELATIONSHIP BETWEEN CERTIFICATIONS AND SALARY</a:t>
            </a:r>
          </a:p>
        </p:txBody>
      </p:sp>
      <p:pic>
        <p:nvPicPr>
          <p:cNvPr id="4" name="Content Placeholder 3">
            <a:extLst>
              <a:ext uri="{FF2B5EF4-FFF2-40B4-BE49-F238E27FC236}">
                <a16:creationId xmlns:a16="http://schemas.microsoft.com/office/drawing/2014/main" id="{68016070-6C90-4DD1-9516-B7422C68EFC6}"/>
              </a:ext>
            </a:extLst>
          </p:cNvPr>
          <p:cNvPicPr>
            <a:picLocks noGrp="1" noChangeAspect="1"/>
          </p:cNvPicPr>
          <p:nvPr>
            <p:ph idx="1"/>
          </p:nvPr>
        </p:nvPicPr>
        <p:blipFill>
          <a:blip r:embed="rId2"/>
          <a:stretch>
            <a:fillRect/>
          </a:stretch>
        </p:blipFill>
        <p:spPr>
          <a:xfrm>
            <a:off x="3487079" y="1846263"/>
            <a:ext cx="5278168" cy="4022725"/>
          </a:xfrm>
          <a:prstGeom prst="rect">
            <a:avLst/>
          </a:prstGeom>
        </p:spPr>
      </p:pic>
    </p:spTree>
    <p:extLst>
      <p:ext uri="{BB962C8B-B14F-4D97-AF65-F5344CB8AC3E}">
        <p14:creationId xmlns:p14="http://schemas.microsoft.com/office/powerpoint/2010/main" val="540597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4D6A2-6027-45D9-8E65-14370F34D30A}"/>
              </a:ext>
            </a:extLst>
          </p:cNvPr>
          <p:cNvSpPr>
            <a:spLocks noGrp="1"/>
          </p:cNvSpPr>
          <p:nvPr>
            <p:ph type="title"/>
          </p:nvPr>
        </p:nvSpPr>
        <p:spPr/>
        <p:txBody>
          <a:bodyPr>
            <a:normAutofit fontScale="90000"/>
          </a:bodyPr>
          <a:lstStyle/>
          <a:p>
            <a:r>
              <a:rPr lang="en-GB" dirty="0">
                <a:latin typeface="Times New Roman" panose="02020603050405020304" pitchFamily="18" charset="0"/>
                <a:cs typeface="Times New Roman" panose="02020603050405020304" pitchFamily="18" charset="0"/>
              </a:rPr>
              <a:t>INSIGHT ON RELATIONSHIP BETWEEN CERTIFICATIONS AND SALARY</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6E1C32C-351B-480A-97E0-F81B3095601A}"/>
              </a:ext>
            </a:extLst>
          </p:cNvPr>
          <p:cNvSpPr>
            <a:spLocks noGrp="1"/>
          </p:cNvSpPr>
          <p:nvPr>
            <p:ph idx="1"/>
          </p:nvPr>
        </p:nvSpPr>
        <p:spPr/>
        <p:txBody>
          <a:bodyPr>
            <a:normAutofit lnSpcReduction="10000"/>
          </a:bodyPr>
          <a:lstStyle/>
          <a:p>
            <a:r>
              <a:rPr lang="en-GB" sz="3200" dirty="0">
                <a:latin typeface="Times New Roman" panose="02020603050405020304" pitchFamily="18" charset="0"/>
                <a:cs typeface="Times New Roman" panose="02020603050405020304" pitchFamily="18" charset="0"/>
              </a:rPr>
              <a:t>The scatterplot analysis of certifications versus starting salary indicates a very strong positive relationship. This suggests that students with a higher number of professional certifications tend to secure higher-paying jobs upon entering the workforce. The result highlights the importance of specialized credentials and continuous learning in influencing initial earning potential, although other factors such as university prestige, major, and internship experience also contribute to a candidate's starting compensation.</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0511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1300C-5F4E-4030-9547-51F94EBA6FED}"/>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RELATIONSHIP BETWEEN SOFT SKILLS AND CAREER SATISFACTION</a:t>
            </a:r>
          </a:p>
        </p:txBody>
      </p:sp>
      <p:pic>
        <p:nvPicPr>
          <p:cNvPr id="4" name="Content Placeholder 3">
            <a:extLst>
              <a:ext uri="{FF2B5EF4-FFF2-40B4-BE49-F238E27FC236}">
                <a16:creationId xmlns:a16="http://schemas.microsoft.com/office/drawing/2014/main" id="{3C39DE7D-6DF9-4EDD-B9EA-C3BC1260F839}"/>
              </a:ext>
            </a:extLst>
          </p:cNvPr>
          <p:cNvPicPr>
            <a:picLocks noGrp="1" noChangeAspect="1"/>
          </p:cNvPicPr>
          <p:nvPr>
            <p:ph idx="1"/>
          </p:nvPr>
        </p:nvPicPr>
        <p:blipFill>
          <a:blip r:embed="rId2"/>
          <a:stretch>
            <a:fillRect/>
          </a:stretch>
        </p:blipFill>
        <p:spPr>
          <a:xfrm>
            <a:off x="3641799" y="1846263"/>
            <a:ext cx="4968728" cy="4022725"/>
          </a:xfrm>
          <a:prstGeom prst="rect">
            <a:avLst/>
          </a:prstGeom>
        </p:spPr>
      </p:pic>
    </p:spTree>
    <p:extLst>
      <p:ext uri="{BB962C8B-B14F-4D97-AF65-F5344CB8AC3E}">
        <p14:creationId xmlns:p14="http://schemas.microsoft.com/office/powerpoint/2010/main" val="744242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9926F-C4C8-4F34-9F23-EF98934DD39D}"/>
              </a:ext>
            </a:extLst>
          </p:cNvPr>
          <p:cNvSpPr>
            <a:spLocks noGrp="1"/>
          </p:cNvSpPr>
          <p:nvPr>
            <p:ph type="title"/>
          </p:nvPr>
        </p:nvSpPr>
        <p:spPr/>
        <p:txBody>
          <a:bodyPr/>
          <a:lstStyle/>
          <a:p>
            <a:r>
              <a:rPr lang="en-US" dirty="0"/>
              <a:t>INSIGHTS ON RELATIONSHIP BETWEEN SOFT SKILLS AND CAREER SATISFACTION</a:t>
            </a:r>
          </a:p>
        </p:txBody>
      </p:sp>
      <p:sp>
        <p:nvSpPr>
          <p:cNvPr id="3" name="Content Placeholder 2">
            <a:extLst>
              <a:ext uri="{FF2B5EF4-FFF2-40B4-BE49-F238E27FC236}">
                <a16:creationId xmlns:a16="http://schemas.microsoft.com/office/drawing/2014/main" id="{5DCB255A-4F0D-4F69-9F5B-08AFE050C4E3}"/>
              </a:ext>
            </a:extLst>
          </p:cNvPr>
          <p:cNvSpPr>
            <a:spLocks noGrp="1"/>
          </p:cNvSpPr>
          <p:nvPr>
            <p:ph idx="1"/>
          </p:nvPr>
        </p:nvSpPr>
        <p:spPr/>
        <p:txBody>
          <a:bodyPr>
            <a:normAutofit lnSpcReduction="10000"/>
          </a:bodyPr>
          <a:lstStyle/>
          <a:p>
            <a:r>
              <a:rPr lang="en-GB" sz="3200" dirty="0">
                <a:latin typeface="Times New Roman" panose="02020603050405020304" pitchFamily="18" charset="0"/>
                <a:cs typeface="Times New Roman" panose="02020603050405020304" pitchFamily="18" charset="0"/>
              </a:rPr>
              <a:t>The scatterplot analysis of soft skills score versus career satisfaction indicates a strong positive relationship. This suggests that individuals with higher scores in interpersonal and emotional competencies tend to report greater levels of fulfilment in their professional lives. The result highlights the significance of soft skills in influencing long-term career happiness, although other factors such as work environment, compensation, and leadership style also contribute to overall job satisfaction.</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8306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EBB0E-2772-4417-9109-2D4B16CBCCF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RELATIONSHIP BETWEEN NETWORKING AND JOB LEVEL</a:t>
            </a:r>
          </a:p>
        </p:txBody>
      </p:sp>
      <p:pic>
        <p:nvPicPr>
          <p:cNvPr id="4" name="Content Placeholder 3">
            <a:extLst>
              <a:ext uri="{FF2B5EF4-FFF2-40B4-BE49-F238E27FC236}">
                <a16:creationId xmlns:a16="http://schemas.microsoft.com/office/drawing/2014/main" id="{DE148FE5-C2D6-4D9B-8B90-78D7DED5EABD}"/>
              </a:ext>
            </a:extLst>
          </p:cNvPr>
          <p:cNvPicPr>
            <a:picLocks noGrp="1" noChangeAspect="1"/>
          </p:cNvPicPr>
          <p:nvPr>
            <p:ph idx="1"/>
          </p:nvPr>
        </p:nvPicPr>
        <p:blipFill>
          <a:blip r:embed="rId2"/>
          <a:stretch>
            <a:fillRect/>
          </a:stretch>
        </p:blipFill>
        <p:spPr>
          <a:xfrm>
            <a:off x="3522443" y="1846263"/>
            <a:ext cx="5207439" cy="4022725"/>
          </a:xfrm>
          <a:prstGeom prst="rect">
            <a:avLst/>
          </a:prstGeom>
        </p:spPr>
      </p:pic>
    </p:spTree>
    <p:extLst>
      <p:ext uri="{BB962C8B-B14F-4D97-AF65-F5344CB8AC3E}">
        <p14:creationId xmlns:p14="http://schemas.microsoft.com/office/powerpoint/2010/main" val="1785147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DAF6D-D1A5-454B-AB4D-33F977E61B3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INSIGHT ON NETWORKING AND JOB LEVEL</a:t>
            </a:r>
          </a:p>
        </p:txBody>
      </p:sp>
      <p:sp>
        <p:nvSpPr>
          <p:cNvPr id="3" name="Content Placeholder 2">
            <a:extLst>
              <a:ext uri="{FF2B5EF4-FFF2-40B4-BE49-F238E27FC236}">
                <a16:creationId xmlns:a16="http://schemas.microsoft.com/office/drawing/2014/main" id="{1FDA394B-5326-4BD7-9905-82A7F74C0722}"/>
              </a:ext>
            </a:extLst>
          </p:cNvPr>
          <p:cNvSpPr>
            <a:spLocks noGrp="1"/>
          </p:cNvSpPr>
          <p:nvPr>
            <p:ph idx="1"/>
          </p:nvPr>
        </p:nvSpPr>
        <p:spPr/>
        <p:txBody>
          <a:bodyPr>
            <a:normAutofit lnSpcReduction="10000"/>
          </a:bodyPr>
          <a:lstStyle/>
          <a:p>
            <a:r>
              <a:rPr lang="en-GB" sz="3200" dirty="0">
                <a:latin typeface="Times New Roman" panose="02020603050405020304" pitchFamily="18" charset="0"/>
                <a:cs typeface="Times New Roman" panose="02020603050405020304" pitchFamily="18" charset="0"/>
              </a:rPr>
              <a:t>The scatterplot analysis of networking score versus current job level indicates a very strong positive relationship. This suggests that individuals with higher networking scores tend to achieve higher ranking positions and advance further in their career hierarchy. The result highlights the significance of professional relationship building and networking in influencing career progression, although other factors such as technical expertise, total years of experience, and leadership abilities also contribute to an individual's current job level.</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5479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94D8E-25B4-4EF5-99D0-A1CD15311E7C}"/>
              </a:ext>
            </a:extLst>
          </p:cNvPr>
          <p:cNvSpPr>
            <a:spLocks noGrp="1"/>
          </p:cNvSpPr>
          <p:nvPr>
            <p:ph type="title"/>
          </p:nvPr>
        </p:nvSpPr>
        <p:spPr>
          <a:xfrm>
            <a:off x="1181362" y="854162"/>
            <a:ext cx="10058400" cy="1450757"/>
          </a:xfrm>
        </p:spPr>
        <p:txBody>
          <a:bodyPr>
            <a:normAutofit fontScale="90000"/>
          </a:bodyPr>
          <a:lstStyle/>
          <a:p>
            <a:r>
              <a:rPr lang="en-GB" dirty="0">
                <a:latin typeface="Times New Roman" panose="02020603050405020304" pitchFamily="18" charset="0"/>
                <a:cs typeface="Times New Roman" panose="02020603050405020304" pitchFamily="18" charset="0"/>
              </a:rPr>
              <a:t>KEY INSIGHTS FROM THE ANALYSIS</a:t>
            </a:r>
            <a:br>
              <a:rPr lang="en-GB" dirty="0"/>
            </a:br>
            <a:endParaRPr lang="en-US" dirty="0"/>
          </a:p>
        </p:txBody>
      </p:sp>
      <p:sp>
        <p:nvSpPr>
          <p:cNvPr id="3" name="Content Placeholder 2">
            <a:extLst>
              <a:ext uri="{FF2B5EF4-FFF2-40B4-BE49-F238E27FC236}">
                <a16:creationId xmlns:a16="http://schemas.microsoft.com/office/drawing/2014/main" id="{75A907EF-BB21-4D4F-956D-42449E082DE7}"/>
              </a:ext>
            </a:extLst>
          </p:cNvPr>
          <p:cNvSpPr>
            <a:spLocks noGrp="1"/>
          </p:cNvSpPr>
          <p:nvPr>
            <p:ph idx="1"/>
          </p:nvPr>
        </p:nvSpPr>
        <p:spPr>
          <a:xfrm>
            <a:off x="1181362" y="1793182"/>
            <a:ext cx="10058400" cy="4439452"/>
          </a:xfrm>
        </p:spPr>
        <p:txBody>
          <a:bodyPr>
            <a:normAutofit fontScale="77500" lnSpcReduction="20000"/>
          </a:bodyPr>
          <a:lstStyle/>
          <a:p>
            <a:pPr marL="342900" indent="-342900">
              <a:buFont typeface="+mj-lt"/>
              <a:buAutoNum type="arabicPeriod"/>
            </a:pPr>
            <a:endParaRPr lang="en-GB" sz="1800" dirty="0"/>
          </a:p>
          <a:p>
            <a:pPr marL="457200" indent="-457200">
              <a:buFont typeface="+mj-lt"/>
              <a:buAutoNum type="arabicPeriod"/>
            </a:pPr>
            <a:r>
              <a:rPr lang="en-GB" sz="2400" dirty="0">
                <a:latin typeface="Times New Roman" panose="02020603050405020304" pitchFamily="18" charset="0"/>
                <a:cs typeface="Times New Roman" panose="02020603050405020304" pitchFamily="18" charset="0"/>
              </a:rPr>
              <a:t>University GPA Strongly Influences Starting Salary: The analysis revealed a very strong positive correlation between University GPA and Starting Salary. Students with higher academic performance tend to secure better-paying jobs, indicating that employers still place significant value on academic excellence when making hiring and salary decisions.</a:t>
            </a:r>
          </a:p>
          <a:p>
            <a:pPr marL="457200" indent="-457200">
              <a:buFont typeface="+mj-lt"/>
              <a:buAutoNum type="arabicPeriod"/>
            </a:pPr>
            <a:r>
              <a:rPr lang="en-GB" sz="2400" dirty="0">
                <a:latin typeface="Times New Roman" panose="02020603050405020304" pitchFamily="18" charset="0"/>
                <a:cs typeface="Times New Roman" panose="02020603050405020304" pitchFamily="18" charset="0"/>
              </a:rPr>
              <a:t>Internships Significantly Improve Employability: Students who completed more internships received more job offers and experienced faster career entry. This shows that hands-on experience plays a crucial role in making graduates job-ready and competitive in the labour market.</a:t>
            </a:r>
          </a:p>
          <a:p>
            <a:pPr marL="457200" indent="-457200">
              <a:buFont typeface="+mj-lt"/>
              <a:buAutoNum type="arabicPeriod"/>
            </a:pPr>
            <a:r>
              <a:rPr lang="en-GB" sz="2400" dirty="0">
                <a:latin typeface="Times New Roman" panose="02020603050405020304" pitchFamily="18" charset="0"/>
                <a:cs typeface="Times New Roman" panose="02020603050405020304" pitchFamily="18" charset="0"/>
              </a:rPr>
              <a:t>Projects and Certifications Support Faster Career Growth: Students with more projects and professional certifications were promoted faster and earned higher salaries. This highlights the importance of practical and industry-relevant skills beyond classroom learning.</a:t>
            </a:r>
          </a:p>
          <a:p>
            <a:pPr marL="457200" indent="-457200">
              <a:buFont typeface="+mj-lt"/>
              <a:buAutoNum type="arabicPeriod"/>
            </a:pPr>
            <a:r>
              <a:rPr lang="en-GB" sz="2400" dirty="0">
                <a:latin typeface="Times New Roman" panose="02020603050405020304" pitchFamily="18" charset="0"/>
                <a:cs typeface="Times New Roman" panose="02020603050405020304" pitchFamily="18" charset="0"/>
              </a:rPr>
              <a:t>Soft Skills Strongly Influence Career Satisfaction: A strong positive relationship was observed between soft skills and career satisfaction. Individuals with better communication, teamwork, and interpersonal skills reported higher job satisfaction and better workplace experiences.</a:t>
            </a:r>
          </a:p>
          <a:p>
            <a:pPr marL="457200" indent="-457200">
              <a:buFont typeface="+mj-lt"/>
              <a:buAutoNum type="arabicPeriod"/>
            </a:pPr>
            <a:r>
              <a:rPr lang="en-GB" sz="2400" dirty="0">
                <a:latin typeface="Times New Roman" panose="02020603050405020304" pitchFamily="18" charset="0"/>
                <a:cs typeface="Times New Roman" panose="02020603050405020304" pitchFamily="18" charset="0"/>
              </a:rPr>
              <a:t>Networking Plays a Key Role in Career Advancement: Networking score showed a strong relationship with current job level, indicating that individuals who build professional connections progress faster in their careers compared to those who rely only on academic credentials.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6732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69C10-11B6-490B-8A88-E9E1E3A6377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RECOMMENDATIONS</a:t>
            </a:r>
          </a:p>
        </p:txBody>
      </p:sp>
      <p:sp>
        <p:nvSpPr>
          <p:cNvPr id="3" name="Content Placeholder 2">
            <a:extLst>
              <a:ext uri="{FF2B5EF4-FFF2-40B4-BE49-F238E27FC236}">
                <a16:creationId xmlns:a16="http://schemas.microsoft.com/office/drawing/2014/main" id="{B801FD34-9E49-422A-AE46-46F20BE23D0D}"/>
              </a:ext>
            </a:extLst>
          </p:cNvPr>
          <p:cNvSpPr>
            <a:spLocks noGrp="1"/>
          </p:cNvSpPr>
          <p:nvPr>
            <p:ph idx="1"/>
          </p:nvPr>
        </p:nvSpPr>
        <p:spPr>
          <a:xfrm>
            <a:off x="1097280" y="1845733"/>
            <a:ext cx="10058400" cy="4407921"/>
          </a:xfrm>
        </p:spPr>
        <p:txBody>
          <a:bodyPr>
            <a:normAutofit fontScale="92500" lnSpcReduction="10000"/>
          </a:bodyPr>
          <a:lstStyle/>
          <a:p>
            <a:pPr algn="l">
              <a:buFont typeface="+mj-lt"/>
              <a:buAutoNum type="arabicPeriod"/>
            </a:pPr>
            <a:r>
              <a:rPr lang="en-GB" b="0" i="0" dirty="0">
                <a:solidFill>
                  <a:srgbClr val="1F1F1F"/>
                </a:solidFill>
                <a:effectLst/>
                <a:latin typeface="Times New Roman" panose="02020603050405020304" pitchFamily="18" charset="0"/>
                <a:cs typeface="Times New Roman" panose="02020603050405020304" pitchFamily="18" charset="0"/>
              </a:rPr>
              <a:t>Students Should Balance Academics with Practical Experience: While GPA is important, students should actively seek internships, projects, and certifications to improve employability and career growth.</a:t>
            </a:r>
          </a:p>
          <a:p>
            <a:pPr algn="l">
              <a:buFont typeface="+mj-lt"/>
              <a:buAutoNum type="arabicPeriod"/>
            </a:pPr>
            <a:r>
              <a:rPr lang="en-GB" b="0" i="0" dirty="0">
                <a:solidFill>
                  <a:srgbClr val="1F1F1F"/>
                </a:solidFill>
                <a:effectLst/>
                <a:latin typeface="Times New Roman" panose="02020603050405020304" pitchFamily="18" charset="0"/>
                <a:cs typeface="Times New Roman" panose="02020603050405020304" pitchFamily="18" charset="0"/>
              </a:rPr>
              <a:t>Universities Should Promote Experiential Learning: Institutions should integrate internships, project-based learning, and industry collaborations into academic programs to better prepare students for the job market.</a:t>
            </a:r>
          </a:p>
          <a:p>
            <a:pPr algn="l">
              <a:buFont typeface="+mj-lt"/>
              <a:buAutoNum type="arabicPeriod"/>
            </a:pPr>
            <a:r>
              <a:rPr lang="en-GB" b="0" i="0" dirty="0">
                <a:solidFill>
                  <a:srgbClr val="1F1F1F"/>
                </a:solidFill>
                <a:effectLst/>
                <a:latin typeface="Times New Roman" panose="02020603050405020304" pitchFamily="18" charset="0"/>
                <a:cs typeface="Times New Roman" panose="02020603050405020304" pitchFamily="18" charset="0"/>
              </a:rPr>
              <a:t>Soft Skills Training Should Be Emphasized: Communication, teamwork, leadership, and problem-solving skills should be taught alongside technical courses to improve career satisfaction and workplace success.</a:t>
            </a:r>
          </a:p>
          <a:p>
            <a:pPr algn="l">
              <a:buFont typeface="+mj-lt"/>
              <a:buAutoNum type="arabicPeriod"/>
            </a:pPr>
            <a:r>
              <a:rPr lang="en-GB" b="0" i="0" dirty="0">
                <a:solidFill>
                  <a:srgbClr val="1F1F1F"/>
                </a:solidFill>
                <a:effectLst/>
                <a:latin typeface="Times New Roman" panose="02020603050405020304" pitchFamily="18" charset="0"/>
                <a:cs typeface="Times New Roman" panose="02020603050405020304" pitchFamily="18" charset="0"/>
              </a:rPr>
              <a:t>Career Guidance and Networking Opportunities Should Be Strengthened: Career fairs, mentorship programs, and alumni networking sessions should be encouraged to help students build professional relationships early.</a:t>
            </a:r>
          </a:p>
          <a:p>
            <a:pPr algn="l">
              <a:buFont typeface="+mj-lt"/>
              <a:buAutoNum type="arabicPeriod"/>
            </a:pPr>
            <a:r>
              <a:rPr lang="en-GB" b="0" i="0" dirty="0">
                <a:solidFill>
                  <a:srgbClr val="1F1F1F"/>
                </a:solidFill>
                <a:effectLst/>
                <a:latin typeface="Times New Roman" panose="02020603050405020304" pitchFamily="18" charset="0"/>
                <a:cs typeface="Times New Roman" panose="02020603050405020304" pitchFamily="18" charset="0"/>
              </a:rPr>
              <a:t>Students Should Focus on Holistic Development: Rather than focusing only on grades, students should develop a balanced profile that includes academic excellence, experience, certifications, and interpersonal skills.</a:t>
            </a:r>
          </a:p>
          <a:p>
            <a:endParaRPr lang="en-US" dirty="0"/>
          </a:p>
        </p:txBody>
      </p:sp>
    </p:spTree>
    <p:extLst>
      <p:ext uri="{BB962C8B-B14F-4D97-AF65-F5344CB8AC3E}">
        <p14:creationId xmlns:p14="http://schemas.microsoft.com/office/powerpoint/2010/main" val="920838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55E00-3F5B-47EB-AC59-530430A298FC}"/>
              </a:ext>
            </a:extLst>
          </p:cNvPr>
          <p:cNvSpPr>
            <a:spLocks noGrp="1"/>
          </p:cNvSpPr>
          <p:nvPr>
            <p:ph type="title"/>
          </p:nvPr>
        </p:nvSpPr>
        <p:spPr/>
        <p:txBody>
          <a:bodyPr>
            <a:normAutofit/>
          </a:bodyPr>
          <a:lstStyle/>
          <a:p>
            <a:r>
              <a:rPr lang="en-US" sz="54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0560BC85-6C44-4F9D-B94B-93F4F69DE5D8}"/>
              </a:ext>
            </a:extLst>
          </p:cNvPr>
          <p:cNvSpPr>
            <a:spLocks noGrp="1"/>
          </p:cNvSpPr>
          <p:nvPr>
            <p:ph idx="1"/>
          </p:nvPr>
        </p:nvSpPr>
        <p:spPr/>
        <p:txBody>
          <a:bodyPr>
            <a:normAutofit fontScale="92500" lnSpcReduction="10000"/>
          </a:bodyPr>
          <a:lstStyle/>
          <a:p>
            <a:pPr algn="l"/>
            <a:r>
              <a:rPr lang="en-GB" sz="2800" b="0" i="0" dirty="0">
                <a:solidFill>
                  <a:srgbClr val="1F1F1F"/>
                </a:solidFill>
                <a:effectLst/>
                <a:latin typeface="Times New Roman" panose="02020603050405020304" pitchFamily="18" charset="0"/>
                <a:cs typeface="Times New Roman" panose="02020603050405020304" pitchFamily="18" charset="0"/>
              </a:rPr>
              <a:t>This study demonstrates that early career success is influenced by a combination of academic performance, practical experience, and personal skills. While university GPA remains an important factor in determining starting salary, it is not the sole determinant of success. Internships, projects, certifications, and soft skills play a crucial role in improving employability, career satisfaction, and professional growth. The findings emphasize that students who actively combine education with real world experience and strong interpersonal skills are more likely to achieve better career outcomes. Therefore, a holistic approach to education one that integrates academics, skill development, and networking is essential for long-term career success.</a:t>
            </a:r>
          </a:p>
          <a:p>
            <a:endParaRPr lang="en-US" dirty="0"/>
          </a:p>
        </p:txBody>
      </p:sp>
    </p:spTree>
    <p:extLst>
      <p:ext uri="{BB962C8B-B14F-4D97-AF65-F5344CB8AC3E}">
        <p14:creationId xmlns:p14="http://schemas.microsoft.com/office/powerpoint/2010/main" val="1418913904"/>
      </p:ext>
    </p:extLst>
  </p:cSld>
  <p:clrMapOvr>
    <a:masterClrMapping/>
  </p:clrMapOvr>
</p:sld>
</file>

<file path=ppt/theme/theme1.xml><?xml version="1.0" encoding="utf-8"?>
<a:theme xmlns:a="http://schemas.openxmlformats.org/drawingml/2006/main" name="Retrospec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42</TotalTime>
  <Words>1538</Words>
  <Application>Microsoft Office PowerPoint</Application>
  <PresentationFormat>Widescreen</PresentationFormat>
  <Paragraphs>61</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Courier New</vt:lpstr>
      <vt:lpstr>Times New Roman</vt:lpstr>
      <vt:lpstr>Retrospect</vt:lpstr>
      <vt:lpstr>From Education to Employment: Analysing the Factors That Drive Early Career Success </vt:lpstr>
      <vt:lpstr>Introduction </vt:lpstr>
      <vt:lpstr>Problem Statement </vt:lpstr>
      <vt:lpstr>Objectives of the Study </vt:lpstr>
      <vt:lpstr>GENDER DISTRIBUTION</vt:lpstr>
      <vt:lpstr>FIELD OF STUDY DISTRIBUTION</vt:lpstr>
      <vt:lpstr>CURRENT JOB LEVEL DISTRIBUTION</vt:lpstr>
      <vt:lpstr>ANALYSIS</vt:lpstr>
      <vt:lpstr>ACADEMIC PERFORMANCE(GPA) AND STARTING SALARY</vt:lpstr>
      <vt:lpstr>INSIGHT ON CORRELATION BETWEEN UNIVERSITY GPA AND STARTING SALARY</vt:lpstr>
      <vt:lpstr>ACADEMIC PERFORMANCE(SAT) AND JOB OFFERS</vt:lpstr>
      <vt:lpstr>RELATIONSHIP BETWEEN INTERNSHIPS AND JOB OFFERS</vt:lpstr>
      <vt:lpstr>INSIGHT ON RELATIONSHIP BETWEEN INTERNSHIPS VS JOB OFFERS</vt:lpstr>
      <vt:lpstr>RELATIONSHIP BETWEEN PROJECTS AND YEARS TO PROMOTION</vt:lpstr>
      <vt:lpstr>INISGHTS RELATIONSHIP BETWEEN PROJECTS AND YEARS TO PROMOTION</vt:lpstr>
      <vt:lpstr>RELATIONSHIP BETWEEN CERTIFICATIONS AND SALARY</vt:lpstr>
      <vt:lpstr>INSIGHT ON RELATIONSHIP BETWEEN CERTIFICATIONS AND SALARY</vt:lpstr>
      <vt:lpstr>RELATIONSHIP BETWEEN SOFT SKILLS AND CAREER SATISFACTION</vt:lpstr>
      <vt:lpstr>INSIGHTS ON RELATIONSHIP BETWEEN SOFT SKILLS AND CAREER SATISFACTION</vt:lpstr>
      <vt:lpstr>RELATIONSHIP BETWEEN NETWORKING AND JOB LEVEL</vt:lpstr>
      <vt:lpstr>INSIGHT ON NETWORKING AND JOB LEVEL</vt:lpstr>
      <vt:lpstr>KEY INSIGHTS FROM THE ANALYSIS </vt:lpstr>
      <vt:lpstr>RECOMMENDATIONS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Education to Employment: Analysing the Factors That Drive Early Career Success</dc:title>
  <dc:creator>RAPHAEL FLOKU AYERTEY</dc:creator>
  <cp:lastModifiedBy>RAPHAEL FLOKU AYERTEY</cp:lastModifiedBy>
  <cp:revision>5</cp:revision>
  <dcterms:created xsi:type="dcterms:W3CDTF">2025-12-25T16:11:30Z</dcterms:created>
  <dcterms:modified xsi:type="dcterms:W3CDTF">2025-12-25T16:53:48Z</dcterms:modified>
</cp:coreProperties>
</file>